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Anton" charset="1" panose="00000500000000000000"/>
      <p:regular r:id="rId28"/>
    </p:embeddedFont>
    <p:embeddedFont>
      <p:font typeface="Poppins" charset="1" panose="00000500000000000000"/>
      <p:regular r:id="rId29"/>
    </p:embeddedFont>
    <p:embeddedFont>
      <p:font typeface="Poppins Bold" charset="1" panose="00000800000000000000"/>
      <p:regular r:id="rId30"/>
    </p:embeddedFont>
    <p:embeddedFont>
      <p:font typeface="Waffle Soft" charset="1" panose="02000503000000020004"/>
      <p:regular r:id="rId31"/>
    </p:embeddedFont>
    <p:embeddedFont>
      <p:font typeface="Open Sans" charset="1" panose="000000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4735" y="941930"/>
            <a:ext cx="581014" cy="697725"/>
          </a:xfrm>
          <a:custGeom>
            <a:avLst/>
            <a:gdLst/>
            <a:ahLst/>
            <a:cxnLst/>
            <a:rect r="r" b="b" t="t" l="l"/>
            <a:pathLst>
              <a:path h="697725" w="581014">
                <a:moveTo>
                  <a:pt x="0" y="0"/>
                </a:moveTo>
                <a:lnTo>
                  <a:pt x="581015" y="0"/>
                </a:lnTo>
                <a:lnTo>
                  <a:pt x="581015" y="697724"/>
                </a:lnTo>
                <a:lnTo>
                  <a:pt x="0" y="697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931365" y="-1995988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749769" y="7408383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9"/>
                </a:lnTo>
                <a:lnTo>
                  <a:pt x="0" y="1231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949738" y="7999921"/>
            <a:ext cx="8309562" cy="1641138"/>
          </a:xfrm>
          <a:custGeom>
            <a:avLst/>
            <a:gdLst/>
            <a:ahLst/>
            <a:cxnLst/>
            <a:rect r="r" b="b" t="t" l="l"/>
            <a:pathLst>
              <a:path h="1641138" w="8309562">
                <a:moveTo>
                  <a:pt x="0" y="0"/>
                </a:moveTo>
                <a:lnTo>
                  <a:pt x="8309562" y="0"/>
                </a:lnTo>
                <a:lnTo>
                  <a:pt x="8309562" y="1641139"/>
                </a:lnTo>
                <a:lnTo>
                  <a:pt x="0" y="16411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443208">
            <a:off x="12280691" y="5810793"/>
            <a:ext cx="5031779" cy="3195180"/>
          </a:xfrm>
          <a:custGeom>
            <a:avLst/>
            <a:gdLst/>
            <a:ahLst/>
            <a:cxnLst/>
            <a:rect r="r" b="b" t="t" l="l"/>
            <a:pathLst>
              <a:path h="3195180" w="5031779">
                <a:moveTo>
                  <a:pt x="0" y="0"/>
                </a:moveTo>
                <a:lnTo>
                  <a:pt x="5031779" y="0"/>
                </a:lnTo>
                <a:lnTo>
                  <a:pt x="5031779" y="3195180"/>
                </a:lnTo>
                <a:lnTo>
                  <a:pt x="0" y="31951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532519" y="3386974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9"/>
                </a:lnTo>
                <a:lnTo>
                  <a:pt x="0" y="1231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43034" y="2255728"/>
            <a:ext cx="12266735" cy="429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624"/>
              </a:lnSpc>
            </a:pPr>
            <a:r>
              <a:rPr lang="en-US" sz="15985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SQL</a:t>
            </a:r>
            <a:r>
              <a:rPr lang="en-US" sz="15985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 PROJECT ON </a:t>
            </a:r>
            <a:r>
              <a:rPr lang="en-US" sz="15985" strike="noStrike" u="none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PIZZA</a:t>
            </a:r>
            <a:r>
              <a:rPr lang="en-US" sz="15985" strike="noStrike" u="none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r>
              <a:rPr lang="en-US" sz="15985" strike="noStrike" u="none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SALES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66437" y="8639392"/>
            <a:ext cx="176597" cy="17659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26040" y="482328"/>
            <a:ext cx="581014" cy="697725"/>
          </a:xfrm>
          <a:custGeom>
            <a:avLst/>
            <a:gdLst/>
            <a:ahLst/>
            <a:cxnLst/>
            <a:rect r="r" b="b" t="t" l="l"/>
            <a:pathLst>
              <a:path h="697725" w="581014">
                <a:moveTo>
                  <a:pt x="0" y="0"/>
                </a:moveTo>
                <a:lnTo>
                  <a:pt x="581014" y="0"/>
                </a:lnTo>
                <a:lnTo>
                  <a:pt x="581014" y="697725"/>
                </a:lnTo>
                <a:lnTo>
                  <a:pt x="0" y="697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76675" y="-4517403"/>
            <a:ext cx="13673516" cy="1367351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386147" y="2319355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9"/>
                </a:lnTo>
                <a:lnTo>
                  <a:pt x="0" y="1231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35750" y="2488214"/>
            <a:ext cx="3481319" cy="3319420"/>
            <a:chOff x="0" y="0"/>
            <a:chExt cx="812800" cy="7750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775001"/>
            </a:xfrm>
            <a:custGeom>
              <a:avLst/>
              <a:gdLst/>
              <a:ahLst/>
              <a:cxnLst/>
              <a:rect r="r" b="b" t="t" l="l"/>
              <a:pathLst>
                <a:path h="775001" w="812800">
                  <a:moveTo>
                    <a:pt x="406400" y="0"/>
                  </a:moveTo>
                  <a:cubicBezTo>
                    <a:pt x="181951" y="0"/>
                    <a:pt x="0" y="173490"/>
                    <a:pt x="0" y="387500"/>
                  </a:cubicBezTo>
                  <a:cubicBezTo>
                    <a:pt x="0" y="601511"/>
                    <a:pt x="181951" y="775001"/>
                    <a:pt x="406400" y="775001"/>
                  </a:cubicBezTo>
                  <a:cubicBezTo>
                    <a:pt x="630849" y="775001"/>
                    <a:pt x="812800" y="601511"/>
                    <a:pt x="812800" y="387500"/>
                  </a:cubicBezTo>
                  <a:cubicBezTo>
                    <a:pt x="812800" y="17349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5506"/>
              <a:ext cx="660400" cy="686838"/>
            </a:xfrm>
            <a:prstGeom prst="rect">
              <a:avLst/>
            </a:prstGeom>
          </p:spPr>
          <p:txBody>
            <a:bodyPr anchor="ctr" rtlCol="false" tIns="44922" lIns="44922" bIns="44922" rIns="4492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449557" y="2319355"/>
            <a:ext cx="3897334" cy="3657138"/>
          </a:xfrm>
          <a:custGeom>
            <a:avLst/>
            <a:gdLst/>
            <a:ahLst/>
            <a:cxnLst/>
            <a:rect r="r" b="b" t="t" l="l"/>
            <a:pathLst>
              <a:path h="3657138" w="3897334">
                <a:moveTo>
                  <a:pt x="0" y="0"/>
                </a:moveTo>
                <a:lnTo>
                  <a:pt x="3897334" y="0"/>
                </a:lnTo>
                <a:lnTo>
                  <a:pt x="3897334" y="3657138"/>
                </a:lnTo>
                <a:lnTo>
                  <a:pt x="0" y="36571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285" r="0" b="-1285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3477770">
            <a:off x="155347" y="7667685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009948" y="9515692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2" y="0"/>
                </a:lnTo>
                <a:lnTo>
                  <a:pt x="2249352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951749" y="1122903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45872" y="5279741"/>
            <a:ext cx="9620690" cy="3254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9"/>
              </a:lnSpc>
            </a:pPr>
            <a:r>
              <a:rPr lang="en-US" sz="3799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Hello, My name is Sayli Munde . In this project i have utilize SQL queries to solve questions that were related to pizzas sales  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04441" y="2914501"/>
            <a:ext cx="6165739" cy="1602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909"/>
              </a:lnSpc>
              <a:spcBef>
                <a:spcPct val="0"/>
              </a:spcBef>
            </a:pPr>
            <a:r>
              <a:rPr lang="en-US" sz="12405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HELLO!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12729" y="-4415216"/>
            <a:ext cx="13673516" cy="136735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54735" y="941930"/>
            <a:ext cx="581014" cy="697725"/>
          </a:xfrm>
          <a:custGeom>
            <a:avLst/>
            <a:gdLst/>
            <a:ahLst/>
            <a:cxnLst/>
            <a:rect r="r" b="b" t="t" l="l"/>
            <a:pathLst>
              <a:path h="697725" w="581014">
                <a:moveTo>
                  <a:pt x="0" y="0"/>
                </a:moveTo>
                <a:lnTo>
                  <a:pt x="581015" y="0"/>
                </a:lnTo>
                <a:lnTo>
                  <a:pt x="581015" y="697724"/>
                </a:lnTo>
                <a:lnTo>
                  <a:pt x="0" y="697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379369" y="8743950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009948" y="9515692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2" y="0"/>
                </a:lnTo>
                <a:lnTo>
                  <a:pt x="2249352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302405">
            <a:off x="-1609206" y="77065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938360" y="937714"/>
            <a:ext cx="3569319" cy="490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0"/>
              </a:lnSpc>
            </a:pPr>
            <a:r>
              <a:rPr lang="en-US" sz="3802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PROJECT OVERVIEW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51749" y="1122903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45243" y="2020654"/>
            <a:ext cx="16352841" cy="3406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9"/>
              </a:lnSpc>
            </a:pPr>
            <a:r>
              <a:rPr lang="en-US" sz="3199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This project focuses on analyzing pizza sales data using SQL to extract meaningful business insights.</a:t>
            </a:r>
          </a:p>
          <a:p>
            <a:pPr algn="l">
              <a:lnSpc>
                <a:spcPts val="5439"/>
              </a:lnSpc>
            </a:pPr>
            <a:r>
              <a:rPr lang="en-US" sz="3199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The analysis is based on 21,350 total orders, generating a total revenue of ₹817,860 from pizza sales.</a:t>
            </a:r>
          </a:p>
          <a:p>
            <a:pPr algn="l">
              <a:lnSpc>
                <a:spcPts val="5439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400110" y="-615504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12729" y="-4415216"/>
            <a:ext cx="13673516" cy="136735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54735" y="941930"/>
            <a:ext cx="581014" cy="697725"/>
          </a:xfrm>
          <a:custGeom>
            <a:avLst/>
            <a:gdLst/>
            <a:ahLst/>
            <a:cxnLst/>
            <a:rect r="r" b="b" t="t" l="l"/>
            <a:pathLst>
              <a:path h="697725" w="581014">
                <a:moveTo>
                  <a:pt x="0" y="0"/>
                </a:moveTo>
                <a:lnTo>
                  <a:pt x="581015" y="0"/>
                </a:lnTo>
                <a:lnTo>
                  <a:pt x="581015" y="697724"/>
                </a:lnTo>
                <a:lnTo>
                  <a:pt x="0" y="697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379369" y="8743950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009948" y="9515692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2" y="0"/>
                </a:lnTo>
                <a:lnTo>
                  <a:pt x="2249352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302405">
            <a:off x="-1609206" y="77065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938360" y="937714"/>
            <a:ext cx="2384634" cy="487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0"/>
              </a:lnSpc>
            </a:pPr>
            <a:r>
              <a:rPr lang="en-US" sz="3802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OBJECTIVE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51749" y="1122903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45243" y="1782529"/>
            <a:ext cx="14196264" cy="3406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9"/>
              </a:lnSpc>
            </a:pPr>
          </a:p>
          <a:p>
            <a:pPr algn="l" marL="690874" indent="-345437" lvl="1">
              <a:lnSpc>
                <a:spcPts val="5439"/>
              </a:lnSpc>
              <a:buFont typeface="Arial"/>
              <a:buChar char="•"/>
            </a:pPr>
            <a:r>
              <a:rPr lang="en-US" sz="3199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To evaluate restaurant sales performance by analyzing order volume, revenue contribution, popular pizza types, and customer ordering patterns using SQL.</a:t>
            </a:r>
          </a:p>
          <a:p>
            <a:pPr algn="l">
              <a:lnSpc>
                <a:spcPts val="5439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400110" y="-615504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12729" y="-4415216"/>
            <a:ext cx="13673516" cy="136735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54735" y="941930"/>
            <a:ext cx="581014" cy="697725"/>
          </a:xfrm>
          <a:custGeom>
            <a:avLst/>
            <a:gdLst/>
            <a:ahLst/>
            <a:cxnLst/>
            <a:rect r="r" b="b" t="t" l="l"/>
            <a:pathLst>
              <a:path h="697725" w="581014">
                <a:moveTo>
                  <a:pt x="0" y="0"/>
                </a:moveTo>
                <a:lnTo>
                  <a:pt x="581015" y="0"/>
                </a:lnTo>
                <a:lnTo>
                  <a:pt x="581015" y="697724"/>
                </a:lnTo>
                <a:lnTo>
                  <a:pt x="0" y="697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379369" y="8743950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009948" y="9515692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2" y="0"/>
                </a:lnTo>
                <a:lnTo>
                  <a:pt x="2249352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302405">
            <a:off x="-1609206" y="77065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89480" y="970714"/>
            <a:ext cx="3706084" cy="773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2"/>
              </a:lnSpc>
            </a:pPr>
            <a:r>
              <a:rPr lang="en-US" sz="6002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TABLES USED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51749" y="1122903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35750" y="3265738"/>
            <a:ext cx="9941603" cy="3406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4" indent="-345437" lvl="1">
              <a:lnSpc>
                <a:spcPts val="5439"/>
              </a:lnSpc>
              <a:buFont typeface="Arial"/>
              <a:buChar char="•"/>
            </a:pPr>
            <a:r>
              <a:rPr lang="en-US" sz="3199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orders – order_id, order_date,order_time</a:t>
            </a:r>
          </a:p>
          <a:p>
            <a:pPr algn="l" marL="690874" indent="-345437" lvl="1">
              <a:lnSpc>
                <a:spcPts val="5439"/>
              </a:lnSpc>
              <a:buFont typeface="Arial"/>
              <a:buChar char="•"/>
            </a:pPr>
            <a:r>
              <a:rPr lang="en-US" sz="3199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order_details – order_id, pizza_id, quantity</a:t>
            </a:r>
          </a:p>
          <a:p>
            <a:pPr algn="l" marL="690874" indent="-345437" lvl="1">
              <a:lnSpc>
                <a:spcPts val="5439"/>
              </a:lnSpc>
              <a:buFont typeface="Arial"/>
              <a:buChar char="•"/>
            </a:pPr>
            <a:r>
              <a:rPr lang="en-US" sz="3199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pizzas – pizza_id, size, price</a:t>
            </a:r>
          </a:p>
          <a:p>
            <a:pPr algn="l" marL="690874" indent="-345437" lvl="1">
              <a:lnSpc>
                <a:spcPts val="5439"/>
              </a:lnSpc>
              <a:buFont typeface="Arial"/>
              <a:buChar char="•"/>
            </a:pPr>
            <a:r>
              <a:rPr lang="en-US" sz="3199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pizza_types – pizza_type, category, name</a:t>
            </a:r>
          </a:p>
          <a:p>
            <a:pPr algn="l">
              <a:lnSpc>
                <a:spcPts val="5439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400110" y="-615504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189480" y="2297717"/>
            <a:ext cx="4970801" cy="472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305" spc="6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DATABASE</a:t>
            </a:r>
            <a:r>
              <a:rPr lang="en-US" sz="2305" spc="615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TABLES USED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12729" y="-4415216"/>
            <a:ext cx="13673516" cy="136735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54735" y="941930"/>
            <a:ext cx="581014" cy="697725"/>
          </a:xfrm>
          <a:custGeom>
            <a:avLst/>
            <a:gdLst/>
            <a:ahLst/>
            <a:cxnLst/>
            <a:rect r="r" b="b" t="t" l="l"/>
            <a:pathLst>
              <a:path h="697725" w="581014">
                <a:moveTo>
                  <a:pt x="0" y="0"/>
                </a:moveTo>
                <a:lnTo>
                  <a:pt x="581015" y="0"/>
                </a:lnTo>
                <a:lnTo>
                  <a:pt x="581015" y="697724"/>
                </a:lnTo>
                <a:lnTo>
                  <a:pt x="0" y="6977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379369" y="8743950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5009948" y="9515692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2" y="0"/>
                </a:lnTo>
                <a:lnTo>
                  <a:pt x="2249352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302405">
            <a:off x="-1609206" y="77065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89480" y="970714"/>
            <a:ext cx="4728166" cy="773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2"/>
              </a:lnSpc>
            </a:pPr>
            <a:r>
              <a:rPr lang="en-US" sz="6002">
                <a:solidFill>
                  <a:srgbClr val="FFB000"/>
                </a:solidFill>
                <a:latin typeface="Anton"/>
                <a:ea typeface="Anton"/>
                <a:cs typeface="Anton"/>
                <a:sym typeface="Anton"/>
              </a:rPr>
              <a:t>TOOLS &amp; SKILLS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51749" y="1122903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400110" y="-615504"/>
            <a:ext cx="2249352" cy="1231009"/>
          </a:xfrm>
          <a:custGeom>
            <a:avLst/>
            <a:gdLst/>
            <a:ahLst/>
            <a:cxnLst/>
            <a:rect r="r" b="b" t="t" l="l"/>
            <a:pathLst>
              <a:path h="1231009" w="2249352">
                <a:moveTo>
                  <a:pt x="0" y="0"/>
                </a:moveTo>
                <a:lnTo>
                  <a:pt x="2249351" y="0"/>
                </a:lnTo>
                <a:lnTo>
                  <a:pt x="2249351" y="1231008"/>
                </a:lnTo>
                <a:lnTo>
                  <a:pt x="0" y="12310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457885" y="2297717"/>
            <a:ext cx="4459761" cy="472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305" spc="615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TOOLS &amp; S</a:t>
            </a:r>
            <a:r>
              <a:rPr lang="en-US" sz="2305" spc="615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KILLS USED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57885" y="3532438"/>
            <a:ext cx="10963684" cy="477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9"/>
              </a:lnSpc>
            </a:pPr>
          </a:p>
          <a:p>
            <a:pPr algn="l" marL="690874" indent="-345437" lvl="1">
              <a:lnSpc>
                <a:spcPts val="5439"/>
              </a:lnSpc>
              <a:buFont typeface="Arial"/>
              <a:buChar char="•"/>
            </a:pPr>
            <a:r>
              <a:rPr lang="en-US" sz="3199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SQL (SELECT, WHERE, GROUP BY, JOIN, ORDER BY)</a:t>
            </a:r>
          </a:p>
          <a:p>
            <a:pPr algn="l" marL="690874" indent="-345437" lvl="1">
              <a:lnSpc>
                <a:spcPts val="5439"/>
              </a:lnSpc>
              <a:buFont typeface="Arial"/>
              <a:buChar char="•"/>
            </a:pPr>
            <a:r>
              <a:rPr lang="en-US" sz="3199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Aggregate functions (COUNT, SUM, AVG)</a:t>
            </a:r>
          </a:p>
          <a:p>
            <a:pPr algn="l" marL="690874" indent="-345437" lvl="1">
              <a:lnSpc>
                <a:spcPts val="5439"/>
              </a:lnSpc>
              <a:buFont typeface="Arial"/>
              <a:buChar char="•"/>
            </a:pPr>
            <a:r>
              <a:rPr lang="en-US" sz="3199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Date &amp; Time functions</a:t>
            </a:r>
          </a:p>
          <a:p>
            <a:pPr algn="l" marL="690874" indent="-345437" lvl="1">
              <a:lnSpc>
                <a:spcPts val="5439"/>
              </a:lnSpc>
              <a:buFont typeface="Arial"/>
              <a:buChar char="•"/>
            </a:pPr>
            <a:r>
              <a:rPr lang="en-US" sz="3199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Business problem-solving</a:t>
            </a:r>
          </a:p>
          <a:p>
            <a:pPr algn="l" marL="690874" indent="-345437" lvl="1">
              <a:lnSpc>
                <a:spcPts val="5439"/>
              </a:lnSpc>
              <a:buFont typeface="Arial"/>
              <a:buChar char="•"/>
            </a:pPr>
            <a:r>
              <a:rPr lang="en-US" sz="3199">
                <a:solidFill>
                  <a:srgbClr val="FFFFFF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Data analysis and interpretation</a:t>
            </a:r>
          </a:p>
          <a:p>
            <a:pPr algn="l">
              <a:lnSpc>
                <a:spcPts val="543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10541" y="-3813330"/>
            <a:ext cx="13673516" cy="136735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89953" y="2765456"/>
            <a:ext cx="6100381" cy="3408799"/>
          </a:xfrm>
          <a:custGeom>
            <a:avLst/>
            <a:gdLst/>
            <a:ahLst/>
            <a:cxnLst/>
            <a:rect r="r" b="b" t="t" l="l"/>
            <a:pathLst>
              <a:path h="3408799" w="6100381">
                <a:moveTo>
                  <a:pt x="0" y="0"/>
                </a:moveTo>
                <a:lnTo>
                  <a:pt x="6100381" y="0"/>
                </a:lnTo>
                <a:lnTo>
                  <a:pt x="6100381" y="3408799"/>
                </a:lnTo>
                <a:lnTo>
                  <a:pt x="0" y="34087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69" t="-12266" r="-54962" b="-681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60213" y="7277401"/>
            <a:ext cx="4564817" cy="1980899"/>
          </a:xfrm>
          <a:custGeom>
            <a:avLst/>
            <a:gdLst/>
            <a:ahLst/>
            <a:cxnLst/>
            <a:rect r="r" b="b" t="t" l="l"/>
            <a:pathLst>
              <a:path h="1980899" w="4564817">
                <a:moveTo>
                  <a:pt x="0" y="0"/>
                </a:moveTo>
                <a:lnTo>
                  <a:pt x="4564817" y="0"/>
                </a:lnTo>
                <a:lnTo>
                  <a:pt x="4564817" y="1980899"/>
                </a:lnTo>
                <a:lnTo>
                  <a:pt x="0" y="19808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023" t="-103439" r="-67578" b="-2613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951749" y="1122903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7459" y="415655"/>
            <a:ext cx="16300784" cy="2037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82"/>
              </a:lnSpc>
              <a:spcBef>
                <a:spcPct val="0"/>
              </a:spcBef>
            </a:pPr>
            <a:r>
              <a:rPr lang="en-US" sz="8106">
                <a:solidFill>
                  <a:srgbClr val="FFDE59"/>
                </a:solidFill>
                <a:latin typeface="Waffle Soft"/>
                <a:ea typeface="Waffle Soft"/>
                <a:cs typeface="Waffle Soft"/>
                <a:sym typeface="Waffle Soft"/>
              </a:rPr>
              <a:t>RETRIEVE THE TOTAL NUMBER OF ORDERS PLACED.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5302405">
            <a:off x="-1609206" y="77065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10541" y="-3813330"/>
            <a:ext cx="13673516" cy="136735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40808">
                    <a:alpha val="100000"/>
                  </a:srgbClr>
                </a:gs>
                <a:gs pos="100000">
                  <a:srgbClr val="10020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302405">
            <a:off x="-1609206" y="77065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2685302"/>
            <a:ext cx="10341315" cy="3431268"/>
          </a:xfrm>
          <a:custGeom>
            <a:avLst/>
            <a:gdLst/>
            <a:ahLst/>
            <a:cxnLst/>
            <a:rect r="r" b="b" t="t" l="l"/>
            <a:pathLst>
              <a:path h="3431268" w="10341315">
                <a:moveTo>
                  <a:pt x="0" y="0"/>
                </a:moveTo>
                <a:lnTo>
                  <a:pt x="10341315" y="0"/>
                </a:lnTo>
                <a:lnTo>
                  <a:pt x="10341315" y="3431268"/>
                </a:lnTo>
                <a:lnTo>
                  <a:pt x="0" y="3431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86" t="0" r="-6606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81267" y="6943565"/>
            <a:ext cx="3257414" cy="2314735"/>
          </a:xfrm>
          <a:custGeom>
            <a:avLst/>
            <a:gdLst/>
            <a:ahLst/>
            <a:cxnLst/>
            <a:rect r="r" b="b" t="t" l="l"/>
            <a:pathLst>
              <a:path h="2314735" w="3257414">
                <a:moveTo>
                  <a:pt x="0" y="0"/>
                </a:moveTo>
                <a:lnTo>
                  <a:pt x="3257414" y="0"/>
                </a:lnTo>
                <a:lnTo>
                  <a:pt x="3257414" y="2314735"/>
                </a:lnTo>
                <a:lnTo>
                  <a:pt x="0" y="23147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3692" t="-85300" r="-52770" b="-1304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951749" y="1122903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454413" y="359580"/>
            <a:ext cx="19529632" cy="1775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6"/>
              </a:lnSpc>
              <a:spcBef>
                <a:spcPct val="0"/>
              </a:spcBef>
            </a:pPr>
            <a:r>
              <a:rPr lang="en-US" sz="7006">
                <a:solidFill>
                  <a:srgbClr val="FFDE59"/>
                </a:solidFill>
                <a:latin typeface="Waffle Soft"/>
                <a:ea typeface="Waffle Soft"/>
                <a:cs typeface="Waffle Soft"/>
                <a:sym typeface="Waffle Soft"/>
              </a:rPr>
              <a:t>CALCULATE THE TOTAL REVENUE GENERATED FROM PIZZA SALES.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302405">
            <a:off x="-1609206" y="77065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2021" y="2548493"/>
            <a:ext cx="10813447" cy="3587204"/>
          </a:xfrm>
          <a:custGeom>
            <a:avLst/>
            <a:gdLst/>
            <a:ahLst/>
            <a:cxnLst/>
            <a:rect r="r" b="b" t="t" l="l"/>
            <a:pathLst>
              <a:path h="3587204" w="10813447">
                <a:moveTo>
                  <a:pt x="0" y="0"/>
                </a:moveTo>
                <a:lnTo>
                  <a:pt x="10813448" y="0"/>
                </a:lnTo>
                <a:lnTo>
                  <a:pt x="10813448" y="3587204"/>
                </a:lnTo>
                <a:lnTo>
                  <a:pt x="0" y="35872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84" t="0" r="-5597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37288" y="7386664"/>
            <a:ext cx="5696508" cy="1871636"/>
          </a:xfrm>
          <a:custGeom>
            <a:avLst/>
            <a:gdLst/>
            <a:ahLst/>
            <a:cxnLst/>
            <a:rect r="r" b="b" t="t" l="l"/>
            <a:pathLst>
              <a:path h="1871636" w="5696508">
                <a:moveTo>
                  <a:pt x="0" y="0"/>
                </a:moveTo>
                <a:lnTo>
                  <a:pt x="5696508" y="0"/>
                </a:lnTo>
                <a:lnTo>
                  <a:pt x="5696508" y="1871636"/>
                </a:lnTo>
                <a:lnTo>
                  <a:pt x="0" y="18716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097" t="-56998" r="-36292" b="-3723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951749" y="1122903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4197" y="358896"/>
            <a:ext cx="16085103" cy="1775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6"/>
              </a:lnSpc>
              <a:spcBef>
                <a:spcPct val="0"/>
              </a:spcBef>
            </a:pPr>
            <a:r>
              <a:rPr lang="en-US" sz="7006">
                <a:solidFill>
                  <a:srgbClr val="FFDE59"/>
                </a:solidFill>
                <a:latin typeface="Waffle Soft"/>
                <a:ea typeface="Waffle Soft"/>
                <a:cs typeface="Waffle Soft"/>
                <a:sym typeface="Waffle Soft"/>
              </a:rPr>
              <a:t>IDENTIFY THE HIGHEST-PRICED PIZZA.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302405">
            <a:off x="-1609206" y="77065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574" y="2727411"/>
            <a:ext cx="8733390" cy="3647493"/>
          </a:xfrm>
          <a:custGeom>
            <a:avLst/>
            <a:gdLst/>
            <a:ahLst/>
            <a:cxnLst/>
            <a:rect r="r" b="b" t="t" l="l"/>
            <a:pathLst>
              <a:path h="3647493" w="8733390">
                <a:moveTo>
                  <a:pt x="0" y="0"/>
                </a:moveTo>
                <a:lnTo>
                  <a:pt x="8733389" y="0"/>
                </a:lnTo>
                <a:lnTo>
                  <a:pt x="8733389" y="3647493"/>
                </a:lnTo>
                <a:lnTo>
                  <a:pt x="0" y="36474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96" t="-5731" r="-23406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28771" y="6054222"/>
            <a:ext cx="4169323" cy="3805964"/>
          </a:xfrm>
          <a:custGeom>
            <a:avLst/>
            <a:gdLst/>
            <a:ahLst/>
            <a:cxnLst/>
            <a:rect r="r" b="b" t="t" l="l"/>
            <a:pathLst>
              <a:path h="3805964" w="4169323">
                <a:moveTo>
                  <a:pt x="0" y="0"/>
                </a:moveTo>
                <a:lnTo>
                  <a:pt x="4169324" y="0"/>
                </a:lnTo>
                <a:lnTo>
                  <a:pt x="4169324" y="3805964"/>
                </a:lnTo>
                <a:lnTo>
                  <a:pt x="0" y="38059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7606" t="-28685" r="-2730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951749" y="1122903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4197" y="358896"/>
            <a:ext cx="16085103" cy="1775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6"/>
              </a:lnSpc>
              <a:spcBef>
                <a:spcPct val="0"/>
              </a:spcBef>
            </a:pPr>
            <a:r>
              <a:rPr lang="en-US" sz="7006">
                <a:solidFill>
                  <a:srgbClr val="FFDE59"/>
                </a:solidFill>
                <a:latin typeface="Waffle Soft"/>
                <a:ea typeface="Waffle Soft"/>
                <a:cs typeface="Waffle Soft"/>
                <a:sym typeface="Waffle Soft"/>
              </a:rPr>
              <a:t>IDENTIFY THE MOST COMMON PIZZA SIZE ORDERED.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302405">
            <a:off x="-1609206" y="77065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1293" y="1729607"/>
            <a:ext cx="11129728" cy="4336858"/>
          </a:xfrm>
          <a:custGeom>
            <a:avLst/>
            <a:gdLst/>
            <a:ahLst/>
            <a:cxnLst/>
            <a:rect r="r" b="b" t="t" l="l"/>
            <a:pathLst>
              <a:path h="4336858" w="11129728">
                <a:moveTo>
                  <a:pt x="0" y="0"/>
                </a:moveTo>
                <a:lnTo>
                  <a:pt x="11129728" y="0"/>
                </a:lnTo>
                <a:lnTo>
                  <a:pt x="11129728" y="4336859"/>
                </a:lnTo>
                <a:lnTo>
                  <a:pt x="0" y="4336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54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69673" y="6283381"/>
            <a:ext cx="7031738" cy="3748098"/>
          </a:xfrm>
          <a:custGeom>
            <a:avLst/>
            <a:gdLst/>
            <a:ahLst/>
            <a:cxnLst/>
            <a:rect r="r" b="b" t="t" l="l"/>
            <a:pathLst>
              <a:path h="3748098" w="7031738">
                <a:moveTo>
                  <a:pt x="0" y="0"/>
                </a:moveTo>
                <a:lnTo>
                  <a:pt x="7031738" y="0"/>
                </a:lnTo>
                <a:lnTo>
                  <a:pt x="7031738" y="3748099"/>
                </a:lnTo>
                <a:lnTo>
                  <a:pt x="0" y="37480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542" t="-24170" r="-7597" b="-557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951749" y="1122903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454413" y="321480"/>
            <a:ext cx="19529632" cy="1191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8"/>
              </a:lnSpc>
            </a:pPr>
            <a:r>
              <a:rPr lang="en-US" sz="4706">
                <a:solidFill>
                  <a:srgbClr val="FFDE59"/>
                </a:solidFill>
                <a:latin typeface="Waffle Soft"/>
                <a:ea typeface="Waffle Soft"/>
                <a:cs typeface="Waffle Soft"/>
                <a:sym typeface="Waffle Soft"/>
              </a:rPr>
              <a:t> LIST THE TOP 5 MOST ORDERED </a:t>
            </a:r>
          </a:p>
          <a:p>
            <a:pPr algn="ctr" marL="0" indent="0" lvl="0">
              <a:lnSpc>
                <a:spcPts val="4518"/>
              </a:lnSpc>
              <a:spcBef>
                <a:spcPct val="0"/>
              </a:spcBef>
            </a:pPr>
            <a:r>
              <a:rPr lang="en-US" sz="4706">
                <a:solidFill>
                  <a:srgbClr val="FFDE59"/>
                </a:solidFill>
                <a:latin typeface="Waffle Soft"/>
                <a:ea typeface="Waffle Soft"/>
                <a:cs typeface="Waffle Soft"/>
                <a:sym typeface="Waffle Soft"/>
              </a:rPr>
              <a:t>pizza types along with their quantities.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302405">
            <a:off x="-1609206" y="77065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0788" y="1892970"/>
            <a:ext cx="10906364" cy="5226832"/>
          </a:xfrm>
          <a:custGeom>
            <a:avLst/>
            <a:gdLst/>
            <a:ahLst/>
            <a:cxnLst/>
            <a:rect r="r" b="b" t="t" l="l"/>
            <a:pathLst>
              <a:path h="5226832" w="10906364">
                <a:moveTo>
                  <a:pt x="0" y="0"/>
                </a:moveTo>
                <a:lnTo>
                  <a:pt x="10906363" y="0"/>
                </a:lnTo>
                <a:lnTo>
                  <a:pt x="10906363" y="5226833"/>
                </a:lnTo>
                <a:lnTo>
                  <a:pt x="0" y="5226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62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19015" y="6485975"/>
            <a:ext cx="4027312" cy="3234837"/>
          </a:xfrm>
          <a:custGeom>
            <a:avLst/>
            <a:gdLst/>
            <a:ahLst/>
            <a:cxnLst/>
            <a:rect r="r" b="b" t="t" l="l"/>
            <a:pathLst>
              <a:path h="3234837" w="4027312">
                <a:moveTo>
                  <a:pt x="0" y="0"/>
                </a:moveTo>
                <a:lnTo>
                  <a:pt x="4027312" y="0"/>
                </a:lnTo>
                <a:lnTo>
                  <a:pt x="4027312" y="3234836"/>
                </a:lnTo>
                <a:lnTo>
                  <a:pt x="0" y="3234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337" t="-36622" r="-60424" b="-1292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951749" y="1122903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454413" y="452749"/>
            <a:ext cx="19529632" cy="1030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42"/>
              </a:lnSpc>
              <a:spcBef>
                <a:spcPct val="0"/>
              </a:spcBef>
            </a:pPr>
            <a:r>
              <a:rPr lang="en-US" sz="4106">
                <a:solidFill>
                  <a:srgbClr val="FFDE59"/>
                </a:solidFill>
                <a:latin typeface="Waffle Soft"/>
                <a:ea typeface="Waffle Soft"/>
                <a:cs typeface="Waffle Soft"/>
                <a:sym typeface="Waffle Soft"/>
              </a:rPr>
              <a:t>JOIN THE NECESSARY TABLES TO FIND THE TOTAL QUANTITY OF EACH PIZZA CATEGORY ORDERED.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302405">
            <a:off x="-1609206" y="77065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0788" y="2405273"/>
            <a:ext cx="11420456" cy="3014167"/>
          </a:xfrm>
          <a:custGeom>
            <a:avLst/>
            <a:gdLst/>
            <a:ahLst/>
            <a:cxnLst/>
            <a:rect r="r" b="b" t="t" l="l"/>
            <a:pathLst>
              <a:path h="3014167" w="11420456">
                <a:moveTo>
                  <a:pt x="0" y="0"/>
                </a:moveTo>
                <a:lnTo>
                  <a:pt x="11420455" y="0"/>
                </a:lnTo>
                <a:lnTo>
                  <a:pt x="11420455" y="3014167"/>
                </a:lnTo>
                <a:lnTo>
                  <a:pt x="0" y="30141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27" r="0" b="-82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15986" y="4161301"/>
            <a:ext cx="2404151" cy="5698885"/>
          </a:xfrm>
          <a:custGeom>
            <a:avLst/>
            <a:gdLst/>
            <a:ahLst/>
            <a:cxnLst/>
            <a:rect r="r" b="b" t="t" l="l"/>
            <a:pathLst>
              <a:path h="5698885" w="2404151">
                <a:moveTo>
                  <a:pt x="0" y="0"/>
                </a:moveTo>
                <a:lnTo>
                  <a:pt x="2404151" y="0"/>
                </a:lnTo>
                <a:lnTo>
                  <a:pt x="2404151" y="5698885"/>
                </a:lnTo>
                <a:lnTo>
                  <a:pt x="0" y="56988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051" t="-8231" r="0" b="-151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951749" y="1122903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454413" y="443224"/>
            <a:ext cx="19529632" cy="519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50"/>
              </a:lnSpc>
              <a:spcBef>
                <a:spcPct val="0"/>
              </a:spcBef>
            </a:pPr>
            <a:r>
              <a:rPr lang="en-US" sz="3906">
                <a:solidFill>
                  <a:srgbClr val="FFDE59"/>
                </a:solidFill>
                <a:latin typeface="Waffle Soft"/>
                <a:ea typeface="Waffle Soft"/>
                <a:cs typeface="Waffle Soft"/>
                <a:sym typeface="Waffle Soft"/>
              </a:rPr>
              <a:t>DETERMINE THE DISTRIBUTION OF ORDERS BY HOUR OF THE DAY.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302405">
            <a:off x="-1609206" y="77065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0788" y="2532997"/>
            <a:ext cx="7884993" cy="4500903"/>
          </a:xfrm>
          <a:custGeom>
            <a:avLst/>
            <a:gdLst/>
            <a:ahLst/>
            <a:cxnLst/>
            <a:rect r="r" b="b" t="t" l="l"/>
            <a:pathLst>
              <a:path h="4500903" w="7884993">
                <a:moveTo>
                  <a:pt x="0" y="0"/>
                </a:moveTo>
                <a:lnTo>
                  <a:pt x="7884993" y="0"/>
                </a:lnTo>
                <a:lnTo>
                  <a:pt x="7884993" y="4500903"/>
                </a:lnTo>
                <a:lnTo>
                  <a:pt x="0" y="4500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5630" b="-1599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772690" y="5898447"/>
            <a:ext cx="5244518" cy="3630510"/>
          </a:xfrm>
          <a:custGeom>
            <a:avLst/>
            <a:gdLst/>
            <a:ahLst/>
            <a:cxnLst/>
            <a:rect r="r" b="b" t="t" l="l"/>
            <a:pathLst>
              <a:path h="3630510" w="5244518">
                <a:moveTo>
                  <a:pt x="0" y="0"/>
                </a:moveTo>
                <a:lnTo>
                  <a:pt x="5244518" y="0"/>
                </a:lnTo>
                <a:lnTo>
                  <a:pt x="5244518" y="3630509"/>
                </a:lnTo>
                <a:lnTo>
                  <a:pt x="0" y="36305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1004" t="-32631" r="-27904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951749" y="1122903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454413" y="452749"/>
            <a:ext cx="19529632" cy="1137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</a:pPr>
            <a:r>
              <a:rPr lang="en-US" sz="4506">
                <a:solidFill>
                  <a:srgbClr val="FFDE59"/>
                </a:solidFill>
                <a:latin typeface="Waffle Soft"/>
                <a:ea typeface="Waffle Soft"/>
                <a:cs typeface="Waffle Soft"/>
                <a:sym typeface="Waffle Soft"/>
              </a:rPr>
              <a:t>JOIN RELEVANT TABLES TO FIND </a:t>
            </a:r>
          </a:p>
          <a:p>
            <a:pPr algn="ctr" marL="0" indent="0" lvl="0">
              <a:lnSpc>
                <a:spcPts val="4326"/>
              </a:lnSpc>
              <a:spcBef>
                <a:spcPct val="0"/>
              </a:spcBef>
            </a:pPr>
            <a:r>
              <a:rPr lang="en-US" sz="4506">
                <a:solidFill>
                  <a:srgbClr val="FFDE59"/>
                </a:solidFill>
                <a:latin typeface="Waffle Soft"/>
                <a:ea typeface="Waffle Soft"/>
                <a:cs typeface="Waffle Soft"/>
                <a:sym typeface="Waffle Soft"/>
              </a:rPr>
              <a:t>the category-wise distribution of pizzas.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302405">
            <a:off x="-1609206" y="77065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0788" y="1839564"/>
            <a:ext cx="10336462" cy="4075897"/>
          </a:xfrm>
          <a:custGeom>
            <a:avLst/>
            <a:gdLst/>
            <a:ahLst/>
            <a:cxnLst/>
            <a:rect r="r" b="b" t="t" l="l"/>
            <a:pathLst>
              <a:path h="4075897" w="10336462">
                <a:moveTo>
                  <a:pt x="0" y="0"/>
                </a:moveTo>
                <a:lnTo>
                  <a:pt x="10336462" y="0"/>
                </a:lnTo>
                <a:lnTo>
                  <a:pt x="10336462" y="4075897"/>
                </a:lnTo>
                <a:lnTo>
                  <a:pt x="0" y="40758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03" t="-7408" r="-5618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81768" y="6893275"/>
            <a:ext cx="6207549" cy="1936065"/>
          </a:xfrm>
          <a:custGeom>
            <a:avLst/>
            <a:gdLst/>
            <a:ahLst/>
            <a:cxnLst/>
            <a:rect r="r" b="b" t="t" l="l"/>
            <a:pathLst>
              <a:path h="1936065" w="6207549">
                <a:moveTo>
                  <a:pt x="0" y="0"/>
                </a:moveTo>
                <a:lnTo>
                  <a:pt x="6207549" y="0"/>
                </a:lnTo>
                <a:lnTo>
                  <a:pt x="6207549" y="1936065"/>
                </a:lnTo>
                <a:lnTo>
                  <a:pt x="0" y="19360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581" t="-57590" r="-28439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951749" y="1122903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454413" y="452749"/>
            <a:ext cx="19529632" cy="1052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38"/>
              </a:lnSpc>
              <a:spcBef>
                <a:spcPct val="0"/>
              </a:spcBef>
            </a:pPr>
            <a:r>
              <a:rPr lang="en-US" sz="4206">
                <a:solidFill>
                  <a:srgbClr val="FFDE59"/>
                </a:solidFill>
                <a:latin typeface="Waffle Soft"/>
                <a:ea typeface="Waffle Soft"/>
                <a:cs typeface="Waffle Soft"/>
                <a:sym typeface="Waffle Soft"/>
              </a:rPr>
              <a:t>GROUP THE ORDERS BY DATE AND CALCULATE THE AVERAGE NUMBER OF PIZZAS ORDERED PER DAY.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302405">
            <a:off x="-1609206" y="77065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0355" y="1728234"/>
            <a:ext cx="10348865" cy="5410478"/>
          </a:xfrm>
          <a:custGeom>
            <a:avLst/>
            <a:gdLst/>
            <a:ahLst/>
            <a:cxnLst/>
            <a:rect r="r" b="b" t="t" l="l"/>
            <a:pathLst>
              <a:path h="5410478" w="10348865">
                <a:moveTo>
                  <a:pt x="0" y="0"/>
                </a:moveTo>
                <a:lnTo>
                  <a:pt x="10348865" y="0"/>
                </a:lnTo>
                <a:lnTo>
                  <a:pt x="10348865" y="5410477"/>
                </a:lnTo>
                <a:lnTo>
                  <a:pt x="0" y="5410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920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12969" y="7386361"/>
            <a:ext cx="7727023" cy="2637512"/>
          </a:xfrm>
          <a:custGeom>
            <a:avLst/>
            <a:gdLst/>
            <a:ahLst/>
            <a:cxnLst/>
            <a:rect r="r" b="b" t="t" l="l"/>
            <a:pathLst>
              <a:path h="2637512" w="7727023">
                <a:moveTo>
                  <a:pt x="0" y="0"/>
                </a:moveTo>
                <a:lnTo>
                  <a:pt x="7727023" y="0"/>
                </a:lnTo>
                <a:lnTo>
                  <a:pt x="7727023" y="2637512"/>
                </a:lnTo>
                <a:lnTo>
                  <a:pt x="0" y="26375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170" t="-48115" r="-10521" b="-887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951749" y="1122903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454413" y="452749"/>
            <a:ext cx="19529632" cy="1052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38"/>
              </a:lnSpc>
              <a:spcBef>
                <a:spcPct val="0"/>
              </a:spcBef>
            </a:pPr>
            <a:r>
              <a:rPr lang="en-US" sz="4206">
                <a:solidFill>
                  <a:srgbClr val="FFDE59"/>
                </a:solidFill>
                <a:latin typeface="Waffle Soft"/>
                <a:ea typeface="Waffle Soft"/>
                <a:cs typeface="Waffle Soft"/>
                <a:sym typeface="Waffle Soft"/>
              </a:rPr>
              <a:t>DETERMINE THE TOP 3 MOST ORDERED PIZZA TYPES BASED ON REVENUE.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302405">
            <a:off x="-1609206" y="77065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6813" y="1940902"/>
            <a:ext cx="10465010" cy="4430720"/>
          </a:xfrm>
          <a:custGeom>
            <a:avLst/>
            <a:gdLst/>
            <a:ahLst/>
            <a:cxnLst/>
            <a:rect r="r" b="b" t="t" l="l"/>
            <a:pathLst>
              <a:path h="4430720" w="10465010">
                <a:moveTo>
                  <a:pt x="0" y="0"/>
                </a:moveTo>
                <a:lnTo>
                  <a:pt x="10465011" y="0"/>
                </a:lnTo>
                <a:lnTo>
                  <a:pt x="10465011" y="4430720"/>
                </a:lnTo>
                <a:lnTo>
                  <a:pt x="0" y="4430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51" t="-2326" r="-14825" b="-524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79640" y="6371622"/>
            <a:ext cx="4213563" cy="3488564"/>
          </a:xfrm>
          <a:custGeom>
            <a:avLst/>
            <a:gdLst/>
            <a:ahLst/>
            <a:cxnLst/>
            <a:rect r="r" b="b" t="t" l="l"/>
            <a:pathLst>
              <a:path h="3488564" w="4213563">
                <a:moveTo>
                  <a:pt x="0" y="0"/>
                </a:moveTo>
                <a:lnTo>
                  <a:pt x="4213563" y="0"/>
                </a:lnTo>
                <a:lnTo>
                  <a:pt x="4213563" y="3488564"/>
                </a:lnTo>
                <a:lnTo>
                  <a:pt x="0" y="34885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115" t="-35204" r="-50627" b="-282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951749" y="1122903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620816" y="548451"/>
            <a:ext cx="19529632" cy="932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58"/>
              </a:lnSpc>
              <a:spcBef>
                <a:spcPct val="0"/>
              </a:spcBef>
            </a:pPr>
            <a:r>
              <a:rPr lang="en-US" sz="3706">
                <a:solidFill>
                  <a:srgbClr val="FFDE59"/>
                </a:solidFill>
                <a:latin typeface="Waffle Soft"/>
                <a:ea typeface="Waffle Soft"/>
                <a:cs typeface="Waffle Soft"/>
                <a:sym typeface="Waffle Soft"/>
              </a:rPr>
              <a:t>CALCULATE THE PERCENTAGE CONTRIBUTION OF EACH PIZZA TYPE TO TOTAL REVENUE.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302405">
            <a:off x="-1609206" y="77065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0490" y="2294864"/>
            <a:ext cx="10743760" cy="3234985"/>
          </a:xfrm>
          <a:custGeom>
            <a:avLst/>
            <a:gdLst/>
            <a:ahLst/>
            <a:cxnLst/>
            <a:rect r="r" b="b" t="t" l="l"/>
            <a:pathLst>
              <a:path h="3234985" w="10743760">
                <a:moveTo>
                  <a:pt x="0" y="0"/>
                </a:moveTo>
                <a:lnTo>
                  <a:pt x="10743760" y="0"/>
                </a:lnTo>
                <a:lnTo>
                  <a:pt x="10743760" y="3234985"/>
                </a:lnTo>
                <a:lnTo>
                  <a:pt x="0" y="32349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189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28549" y="5143500"/>
            <a:ext cx="3930751" cy="4959445"/>
          </a:xfrm>
          <a:custGeom>
            <a:avLst/>
            <a:gdLst/>
            <a:ahLst/>
            <a:cxnLst/>
            <a:rect r="r" b="b" t="t" l="l"/>
            <a:pathLst>
              <a:path h="4959445" w="3930751">
                <a:moveTo>
                  <a:pt x="0" y="0"/>
                </a:moveTo>
                <a:lnTo>
                  <a:pt x="3930751" y="0"/>
                </a:lnTo>
                <a:lnTo>
                  <a:pt x="3930751" y="4959445"/>
                </a:lnTo>
                <a:lnTo>
                  <a:pt x="0" y="49594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948" t="-10070" r="-5049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951749" y="1122903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620816" y="398696"/>
            <a:ext cx="19529632" cy="484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58"/>
              </a:lnSpc>
              <a:spcBef>
                <a:spcPct val="0"/>
              </a:spcBef>
            </a:pPr>
            <a:r>
              <a:rPr lang="en-US" sz="3706">
                <a:solidFill>
                  <a:srgbClr val="FFDE59"/>
                </a:solidFill>
                <a:latin typeface="Waffle Soft"/>
                <a:ea typeface="Waffle Soft"/>
                <a:cs typeface="Waffle Soft"/>
                <a:sym typeface="Waffle Soft"/>
              </a:rPr>
              <a:t>ANALYZE THE CUMULATIVE REVENUE GENERATED OVER TIME.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302405">
            <a:off x="-1609206" y="77065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242733"/>
            <a:ext cx="10766989" cy="3710914"/>
          </a:xfrm>
          <a:custGeom>
            <a:avLst/>
            <a:gdLst/>
            <a:ahLst/>
            <a:cxnLst/>
            <a:rect r="r" b="b" t="t" l="l"/>
            <a:pathLst>
              <a:path h="3710914" w="10766989">
                <a:moveTo>
                  <a:pt x="0" y="0"/>
                </a:moveTo>
                <a:lnTo>
                  <a:pt x="10766989" y="0"/>
                </a:lnTo>
                <a:lnTo>
                  <a:pt x="10766989" y="3710913"/>
                </a:lnTo>
                <a:lnTo>
                  <a:pt x="0" y="37109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41" t="-3129" r="-3020" b="-688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35298" y="5406080"/>
            <a:ext cx="5156270" cy="4712374"/>
          </a:xfrm>
          <a:custGeom>
            <a:avLst/>
            <a:gdLst/>
            <a:ahLst/>
            <a:cxnLst/>
            <a:rect r="r" b="b" t="t" l="l"/>
            <a:pathLst>
              <a:path h="4712374" w="5156270">
                <a:moveTo>
                  <a:pt x="0" y="0"/>
                </a:moveTo>
                <a:lnTo>
                  <a:pt x="5156270" y="0"/>
                </a:lnTo>
                <a:lnTo>
                  <a:pt x="5156270" y="4712373"/>
                </a:lnTo>
                <a:lnTo>
                  <a:pt x="0" y="47123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757" t="-14295" r="-1847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951749" y="1122903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620816" y="408221"/>
            <a:ext cx="19529632" cy="1030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42"/>
              </a:lnSpc>
              <a:spcBef>
                <a:spcPct val="0"/>
              </a:spcBef>
            </a:pPr>
            <a:r>
              <a:rPr lang="en-US" sz="4106">
                <a:solidFill>
                  <a:srgbClr val="FFDE59"/>
                </a:solidFill>
                <a:latin typeface="Waffle Soft"/>
                <a:ea typeface="Waffle Soft"/>
                <a:cs typeface="Waffle Soft"/>
                <a:sym typeface="Waffle Soft"/>
              </a:rPr>
              <a:t>DETERMINE THE TOP 3 MOST ORDERED PIZZA TYPES </a:t>
            </a:r>
            <a:r>
              <a:rPr lang="en-US" sz="4106">
                <a:solidFill>
                  <a:srgbClr val="FFDE59"/>
                </a:solidFill>
                <a:latin typeface="Waffle Soft"/>
                <a:ea typeface="Waffle Soft"/>
                <a:cs typeface="Waffle Soft"/>
                <a:sym typeface="Waffle Soft"/>
              </a:rPr>
              <a:t>based on revenue for each pizza category.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302405">
            <a:off x="-1609206" y="77065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951749" y="1122903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15112" y="1114425"/>
            <a:ext cx="5336637" cy="534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42"/>
              </a:lnSpc>
              <a:spcBef>
                <a:spcPct val="0"/>
              </a:spcBef>
            </a:pPr>
            <a:r>
              <a:rPr lang="en-US" sz="4106">
                <a:solidFill>
                  <a:srgbClr val="FFDE59"/>
                </a:solidFill>
                <a:latin typeface="Waffle Soft"/>
                <a:ea typeface="Waffle Soft"/>
                <a:cs typeface="Waffle Soft"/>
                <a:sym typeface="Waffle Soft"/>
              </a:rPr>
              <a:t>KEY LEARNINGS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4825" y="2886086"/>
            <a:ext cx="14917212" cy="3663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09" indent="-313654" lvl="1">
              <a:lnSpc>
                <a:spcPts val="4939"/>
              </a:lnSpc>
              <a:buAutoNum type="arabicPeriod" startAt="1"/>
            </a:pPr>
            <a:r>
              <a:rPr lang="en-US" sz="2905" spc="77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Applied SQL to analyze real-world sales data</a:t>
            </a:r>
          </a:p>
          <a:p>
            <a:pPr algn="l" marL="627309" indent="-313654" lvl="1">
              <a:lnSpc>
                <a:spcPts val="4939"/>
              </a:lnSpc>
              <a:buAutoNum type="arabicPeriod" startAt="1"/>
            </a:pPr>
            <a:r>
              <a:rPr lang="en-US" sz="2905" spc="77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Used joins, aggregations, and window functions</a:t>
            </a:r>
          </a:p>
          <a:p>
            <a:pPr algn="l" marL="627309" indent="-313654" lvl="1">
              <a:lnSpc>
                <a:spcPts val="4939"/>
              </a:lnSpc>
              <a:buAutoNum type="arabicPeriod" startAt="1"/>
            </a:pPr>
            <a:r>
              <a:rPr lang="en-US" sz="2905" spc="77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Calculated revenue and percentage contribution</a:t>
            </a:r>
          </a:p>
          <a:p>
            <a:pPr algn="l" marL="627309" indent="-313654" lvl="1">
              <a:lnSpc>
                <a:spcPts val="4939"/>
              </a:lnSpc>
              <a:buAutoNum type="arabicPeriod" startAt="1"/>
            </a:pPr>
            <a:r>
              <a:rPr lang="en-US" sz="2905" spc="77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Identified top pizzas and category performance</a:t>
            </a:r>
          </a:p>
          <a:p>
            <a:pPr algn="l" marL="627309" indent="-313654" lvl="1">
              <a:lnSpc>
                <a:spcPts val="4939"/>
              </a:lnSpc>
              <a:buAutoNum type="arabicPeriod" startAt="1"/>
            </a:pPr>
            <a:r>
              <a:rPr lang="en-US" sz="2905" spc="77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Analyzed cumulative revenue trends</a:t>
            </a:r>
          </a:p>
          <a:p>
            <a:pPr algn="l" marL="627309" indent="-313654" lvl="1">
              <a:lnSpc>
                <a:spcPts val="4939"/>
              </a:lnSpc>
              <a:buAutoNum type="arabicPeriod" startAt="1"/>
            </a:pPr>
            <a:r>
              <a:rPr lang="en-US" sz="2905" spc="77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Converted data into business insights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302405">
            <a:off x="-1609206" y="77065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951749" y="1122903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57552" y="1257091"/>
            <a:ext cx="3989348" cy="534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42"/>
              </a:lnSpc>
              <a:spcBef>
                <a:spcPct val="0"/>
              </a:spcBef>
            </a:pPr>
            <a:r>
              <a:rPr lang="en-US" sz="4106">
                <a:solidFill>
                  <a:srgbClr val="FFDE59"/>
                </a:solidFill>
                <a:latin typeface="Waffle Soft"/>
                <a:ea typeface="Waffle Soft"/>
                <a:cs typeface="Waffle Soft"/>
                <a:sym typeface="Waffle Soft"/>
              </a:rPr>
              <a:t> 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4825" y="2857511"/>
            <a:ext cx="15434475" cy="3073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9"/>
              </a:lnSpc>
            </a:pPr>
            <a:r>
              <a:rPr lang="en-US" sz="2905" spc="7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project demonstrates my ability to analyze sales data using SQL and extract meaningful insights.</a:t>
            </a:r>
          </a:p>
          <a:p>
            <a:pPr algn="l">
              <a:lnSpc>
                <a:spcPts val="4939"/>
              </a:lnSpc>
            </a:pPr>
            <a:r>
              <a:rPr lang="en-US" sz="2905" spc="7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The analysis can help businesses improve pricing strategies, inventory management, and customer satisfaction.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40808">
                <a:alpha val="100000"/>
              </a:srgbClr>
            </a:gs>
            <a:gs pos="100000">
              <a:srgbClr val="10020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302405">
            <a:off x="-1609206" y="7706530"/>
            <a:ext cx="4539987" cy="4307313"/>
          </a:xfrm>
          <a:custGeom>
            <a:avLst/>
            <a:gdLst/>
            <a:ahLst/>
            <a:cxnLst/>
            <a:rect r="r" b="b" t="t" l="l"/>
            <a:pathLst>
              <a:path h="4307313" w="4539987">
                <a:moveTo>
                  <a:pt x="0" y="0"/>
                </a:moveTo>
                <a:lnTo>
                  <a:pt x="4539987" y="0"/>
                </a:lnTo>
                <a:lnTo>
                  <a:pt x="4539987" y="4307313"/>
                </a:lnTo>
                <a:lnTo>
                  <a:pt x="0" y="4307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951749" y="1122903"/>
            <a:ext cx="927891" cy="3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340808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185542" y="1122903"/>
            <a:ext cx="927891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18061" y="1122903"/>
            <a:ext cx="144123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340808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57552" y="1257091"/>
            <a:ext cx="3989348" cy="534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42"/>
              </a:lnSpc>
              <a:spcBef>
                <a:spcPct val="0"/>
              </a:spcBef>
            </a:pPr>
            <a:r>
              <a:rPr lang="en-US" sz="4106">
                <a:solidFill>
                  <a:srgbClr val="FFDE59"/>
                </a:solidFill>
                <a:latin typeface="Waffle Soft"/>
                <a:ea typeface="Waffle Soft"/>
                <a:cs typeface="Waffle Soft"/>
                <a:sym typeface="Waffle Soft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4825" y="2857511"/>
            <a:ext cx="12824663" cy="1834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9"/>
              </a:lnSpc>
            </a:pPr>
            <a:r>
              <a:rPr lang="en-US" sz="2905" spc="7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Name: Sayli Munde</a:t>
            </a:r>
          </a:p>
          <a:p>
            <a:pPr algn="l">
              <a:lnSpc>
                <a:spcPts val="4939"/>
              </a:lnSpc>
            </a:pPr>
            <a:r>
              <a:rPr lang="en-US" sz="2905" spc="7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Role: Aspiring Data Analyst</a:t>
            </a:r>
          </a:p>
          <a:p>
            <a:pPr algn="l">
              <a:lnSpc>
                <a:spcPts val="4939"/>
              </a:lnSpc>
            </a:pPr>
            <a:r>
              <a:rPr lang="en-US" sz="2905" spc="7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Skills: SQL | Python | Power BI | Data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DAG9pGJEnZg</dc:identifier>
  <dcterms:modified xsi:type="dcterms:W3CDTF">2011-08-01T06:04:30Z</dcterms:modified>
  <cp:revision>1</cp:revision>
  <dc:title>Retrieve the total number of orders placed.</dc:title>
</cp:coreProperties>
</file>